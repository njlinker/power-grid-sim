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212121"/>
                </a:solidFill>
                <a:latin typeface="Microsoft YaHei"/>
              </a:rPr>
              <a:t>⚡ 电网事件驱动仿真与</a:t>
            </a:r>
          </a:p>
          <a:p>
            <a:r>
              <a:rPr sz="4000" b="1">
                <a:solidFill>
                  <a:srgbClr val="212121"/>
                </a:solidFill>
                <a:latin typeface="Microsoft YaHei"/>
              </a:rPr>
              <a:t>自动投切决策系统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6666"/>
                </a:solidFill>
                <a:latin typeface="Calibri"/>
              </a:rPr>
              <a:t>Power Grid Event-Driven Simulation &amp; Auto-Switching Decision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12121"/>
                </a:solidFill>
                <a:latin typeface="Microsoft YaHei"/>
              </a:rPr>
              <a:t>作者：liuka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日期：2026-10-06</a:t>
            </a:r>
          </a:p>
          <a:p>
            <a:r>
              <a:rPr sz="1200" b="0">
                <a:solidFill>
                  <a:srgbClr val="666666"/>
                </a:solidFill>
                <a:latin typeface="Calibri"/>
              </a:rPr>
              <a:t>技术栈：Python · VeraGrid · Plotly · Dash · Stable-Baselines3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976D2"/>
                </a:solidFill>
                <a:latin typeface="Microsoft YaHei"/>
              </a:rPr>
              <a:t>项目目标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6666"/>
                </a:solidFill>
                <a:latin typeface="Microsoft YaHei"/>
              </a:rPr>
              <a:t>构建事件驱动的电网仿真平台，支撑自动投切策略的离线生成与在线验证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Microsoft YaHei"/>
              </a:rPr>
              <a:t>•  稳态运行：模拟真实电网拓扑 + 负荷/电源时序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Microsoft YaHei"/>
              </a:rPr>
              <a:t>•  动态扰动：负荷新增/退出、发电机跳机、线路故障等事件注入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Microsoft YaHei"/>
              </a:rPr>
              <a:t>•  自动投切：根据电网状态自动生成开关/切负荷/调出力等动作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Microsoft YaHei"/>
              </a:rPr>
              <a:t>•  实时观测：拓扑、节点电压、支路载流、发电机出力、损耗的时间序列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Microsoft YaHei"/>
              </a:rPr>
              <a:t>•  规则生成：从大量仿真数据中归纳出保护/重构规则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976D2"/>
                </a:solidFill>
                <a:latin typeface="Microsoft YaHei"/>
              </a:rPr>
              <a:t>系统架构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6666"/>
                </a:solidFill>
                <a:latin typeface="Microsoft YaHei"/>
              </a:rPr>
              <a:t>4 层闭环：从事件注入到拓扑修改形成完整决策回路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1828800" cy="128016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① 事件注入器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负荷/发电机/线路事件</a:t>
            </a:r>
          </a:p>
          <a:p>
            <a:pPr algn="ctr"/>
            <a:r>
              <a:rPr sz="1000" b="0">
                <a:solidFill>
                  <a:srgbClr val="F5F5F5"/>
                </a:solidFill>
                <a:latin typeface="Calibri"/>
              </a:rPr>
              <a:t>event_sim.inject()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1645920"/>
            <a:ext cx="1828800" cy="128016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② 仿真引擎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VeraGrid 潮流/动态/短路</a:t>
            </a:r>
          </a:p>
          <a:p>
            <a:pPr algn="ctr"/>
            <a:r>
              <a:rPr sz="1000" b="0">
                <a:solidFill>
                  <a:srgbClr val="F5F5F5"/>
                </a:solidFill>
                <a:latin typeface="Calibri"/>
              </a:rPr>
              <a:t>vg.power_flow()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645920"/>
            <a:ext cx="1828800" cy="128016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③ 状态观测器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拓扑/电压/载流快照</a:t>
            </a:r>
          </a:p>
          <a:p>
            <a:pPr algn="ctr"/>
            <a:r>
              <a:rPr sz="1000" b="0">
                <a:solidFill>
                  <a:srgbClr val="F5F5F5"/>
                </a:solidFill>
                <a:latin typeface="Calibri"/>
              </a:rPr>
              <a:t>snapshot()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645920"/>
            <a:ext cx="1828800" cy="128016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④ 规则引擎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IF-THEN 规则 + 冷却</a:t>
            </a:r>
          </a:p>
          <a:p>
            <a:pPr algn="ctr"/>
            <a:r>
              <a:rPr sz="1000" b="0">
                <a:solidFill>
                  <a:srgbClr val="F5F5F5"/>
                </a:solidFill>
                <a:latin typeface="Calibri"/>
              </a:rPr>
              <a:t>RuleEngine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976D2"/>
                </a:solidFill>
                <a:latin typeface="Calibri"/>
              </a:rPr>
              <a:t>事件 -&gt; 仿真 -&gt; 状态观测 -&gt; 规则评估 -&gt; 动作 -&gt; 修改拓扑 -&gt; 下一周期</a:t>
            </a:r>
          </a:p>
          <a:p>
            <a:pPr>
              <a:spcAft>
                <a:spcPts val="400"/>
              </a:spcAft>
            </a:pPr>
          </a:p>
          <a:p>
            <a:r>
              <a:rPr sz="1400" b="1">
                <a:solidFill>
                  <a:srgbClr val="212121"/>
                </a:solidFill>
                <a:latin typeface="Microsoft YaHei"/>
              </a:rPr>
              <a:t>关键特性：</a:t>
            </a:r>
          </a:p>
          <a:p>
            <a:r>
              <a:rPr sz="1300" b="0">
                <a:solidFill>
                  <a:srgbClr val="212121"/>
                </a:solidFill>
                <a:latin typeface="Microsoft YaHei"/>
              </a:rPr>
              <a:t>• 规则冷却机制防止抖动（避免低电压-切-恢复-又触发的循环）</a:t>
            </a:r>
          </a:p>
          <a:p>
            <a:r>
              <a:rPr sz="1300" b="0">
                <a:solidFill>
                  <a:srgbClr val="212121"/>
                </a:solidFill>
                <a:latin typeface="Microsoft YaHei"/>
              </a:rPr>
              <a:t>• Simulator 规则触发后立即 re-PF（零延迟优化）</a:t>
            </a:r>
          </a:p>
          <a:p>
            <a:r>
              <a:rPr sz="1300" b="0">
                <a:solidFill>
                  <a:srgbClr val="212121"/>
                </a:solidFill>
                <a:latin typeface="Microsoft YaHei"/>
              </a:rPr>
              <a:t>• 拓扑可投切（Line + active 标志，比 Switch 类更灵活）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976D2"/>
                </a:solidFill>
                <a:latin typeface="Microsoft YaHei"/>
              </a:rPr>
              <a:t>核心能力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6666"/>
                </a:solidFill>
                <a:latin typeface="Microsoft YaHei"/>
              </a:rPr>
              <a:t>6 个阶段，端到端闭环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2560320" cy="146304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CAF50"/>
                </a:solidFill>
                <a:latin typeface="Microsoft YaHei"/>
              </a:rPr>
              <a:t>Phase 1</a:t>
            </a:r>
          </a:p>
          <a:p>
            <a:r>
              <a:rPr sz="1400" b="1">
                <a:solidFill>
                  <a:srgbClr val="212121"/>
                </a:solidFill>
                <a:latin typeface="Microsoft YaHei"/>
              </a:rPr>
              <a:t>事件驱动仿真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5 事件 → 91 步全收敛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4679" y="1554480"/>
            <a:ext cx="2560320" cy="146304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CAF50"/>
                </a:solidFill>
                <a:latin typeface="Microsoft YaHei"/>
              </a:rPr>
              <a:t>Phase 2</a:t>
            </a:r>
          </a:p>
          <a:p>
            <a:r>
              <a:rPr sz="1400" b="1">
                <a:solidFill>
                  <a:srgbClr val="212121"/>
                </a:solidFill>
                <a:latin typeface="Microsoft YaHei"/>
              </a:rPr>
              <a:t>拓扑可控建模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F1B 失电 25→1 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59" y="1554480"/>
            <a:ext cx="2560320" cy="146304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CAF50"/>
                </a:solidFill>
                <a:latin typeface="Microsoft YaHei"/>
              </a:rPr>
              <a:t>Phase 3</a:t>
            </a:r>
          </a:p>
          <a:p>
            <a:r>
              <a:rPr sz="1400" b="1">
                <a:solidFill>
                  <a:srgbClr val="212121"/>
                </a:solidFill>
                <a:latin typeface="Microsoft YaHei"/>
              </a:rPr>
              <a:t>规则引擎 v1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4 条规则改善指标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91840"/>
            <a:ext cx="2560320" cy="146304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CAF50"/>
                </a:solidFill>
                <a:latin typeface="Microsoft YaHei"/>
              </a:rPr>
              <a:t>Phase B</a:t>
            </a:r>
          </a:p>
          <a:p>
            <a:r>
              <a:rPr sz="1400" b="1">
                <a:solidFill>
                  <a:srgbClr val="212121"/>
                </a:solidFill>
                <a:latin typeface="Microsoft YaHei"/>
              </a:rPr>
              <a:t>真实负荷扰动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ZIP/闪变/启停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79" y="3291840"/>
            <a:ext cx="2560320" cy="146304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CAF50"/>
                </a:solidFill>
                <a:latin typeface="Microsoft YaHei"/>
              </a:rPr>
              <a:t>Phase 4</a:t>
            </a:r>
          </a:p>
          <a:p>
            <a:r>
              <a:rPr sz="1400" b="1">
                <a:solidFill>
                  <a:srgbClr val="212121"/>
                </a:solidFill>
                <a:latin typeface="Microsoft YaHei"/>
              </a:rPr>
              <a:t>规则生成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30+ 候选评估排名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59" y="3291840"/>
            <a:ext cx="2560320" cy="146304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CAF50"/>
                </a:solidFill>
                <a:latin typeface="Microsoft YaHei"/>
              </a:rPr>
              <a:t>Phase 5</a:t>
            </a:r>
          </a:p>
          <a:p>
            <a:r>
              <a:rPr sz="1400" b="1">
                <a:solidFill>
                  <a:srgbClr val="212121"/>
                </a:solidFill>
                <a:latin typeface="Microsoft YaHei"/>
              </a:rPr>
              <a:t>可视化仪表盘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Plotly 单文件 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Microsoft YaHei"/>
              </a:rPr>
              <a:t>外加 6 个增强 Phase (A-F)：YAML 化 / 场景库 / R004 v2 / RL 训练 / 蒙特卡洛 / 实时 Dash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976D2"/>
                </a:solidFill>
                <a:latin typeface="Microsoft YaHei"/>
              </a:rPr>
              <a:t>Phase 1：事件驱动仿真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6666"/>
                </a:solidFill>
                <a:latin typeface="Microsoft YaHei"/>
              </a:rPr>
              <a:t>在 IEEE 14 上验证 5 事件剧本，全 91 步收敛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12121"/>
                </a:solidFill>
                <a:latin typeface="Microsoft YaHei"/>
              </a:rPr>
              <a:t>•  6 种事件类型：load_add/drop, gen_trip/commit, line_trip/close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12121"/>
                </a:solidFill>
                <a:latin typeface="Microsoft YaHei"/>
              </a:rPr>
              <a:t>•  Simulator 主循环：基线 → 步进 → 事件 → 潮流 → 快照 → 记录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12121"/>
                </a:solidFill>
                <a:latin typeface="Microsoft YaHei"/>
              </a:rPr>
              <a:t>•  VeraGrid 6.0.22 实测：pf.Sbus 单位是 MW（不是 pu）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12121"/>
                </a:solidFill>
                <a:latin typeface="Microsoft YaHei"/>
              </a:rPr>
              <a:t>•  修复了多个 API bug：loading 字段垃圾值、rate 默认 1.0、GBK 编码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12121"/>
                </a:solidFill>
                <a:latin typeface="Microsoft YaHei"/>
              </a:rPr>
              <a:t>•  支持 IEEE 14/30/57/118/300 + Kundur RMS 等多套测试系统</a:t>
            </a:r>
          </a:p>
        </p:txBody>
      </p:sp>
      <p:pic>
        <p:nvPicPr>
          <p:cNvPr id="5" name="Picture 4" descr="exp03_event_driven_s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40480"/>
            <a:ext cx="3352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976D2"/>
                </a:solidFill>
                <a:latin typeface="Microsoft YaHei"/>
              </a:rPr>
              <a:t>Phase 2 + 3：拓扑重构 + 规则引擎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6666"/>
                </a:solidFill>
                <a:latin typeface="Microsoft YaHei"/>
              </a:rPr>
              <a:t>5-bus 辐射状 feeder + 4 条保护规则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12121"/>
                </a:solidFill>
                <a:latin typeface="Microsoft YaHei"/>
              </a:rPr>
              <a:t>•  辐射状 feeder：SRC → S01/S02 → F1A/F2A → S13/S24 → F1B/F2B + TIE</a:t>
            </a:r>
          </a:p>
          <a:p>
            <a:r>
              <a:rPr sz="1300" b="0">
                <a:solidFill>
                  <a:srgbClr val="212121"/>
                </a:solidFill>
                <a:latin typeface="Microsoft YaHei"/>
              </a:rPr>
              <a:t>•  Line + active 标志表达可投切开关（比 Switch 类更灵活）</a:t>
            </a:r>
          </a:p>
          <a:p>
            <a:r>
              <a:rPr sz="1300" b="0">
                <a:solidFill>
                  <a:srgbClr val="1976D2"/>
                </a:solidFill>
                <a:latin typeface="Calibri"/>
              </a:rPr>
              <a:t>R001_UVLS  低压减载（V&lt;0.93pu → 切 30%）</a:t>
            </a:r>
          </a:p>
          <a:p>
            <a:r>
              <a:rPr sz="1300" b="0">
                <a:solidFill>
                  <a:srgbClr val="1976D2"/>
                </a:solidFill>
                <a:latin typeface="Calibri"/>
              </a:rPr>
              <a:t>R002_OVGR  过压减出力（V&gt;1.10pu → 降 20%）</a:t>
            </a:r>
          </a:p>
          <a:p>
            <a:r>
              <a:rPr sz="1300" b="0">
                <a:solidFill>
                  <a:srgbClr val="1976D2"/>
                </a:solidFill>
                <a:latin typeface="Calibri"/>
              </a:rPr>
              <a:t>R003_OVERLOAD  重载切负荷（loading&gt;130% → 末端切 10%）</a:t>
            </a:r>
          </a:p>
          <a:p>
            <a:r>
              <a:rPr sz="1300" b="0">
                <a:solidFill>
                  <a:srgbClr val="1976D2"/>
                </a:solidFill>
                <a:latin typeface="Calibri"/>
              </a:rPr>
              <a:t>R004_RECONFIGURE  失电检测 + 闭合 TIE（v2 还支持故障隔离）</a:t>
            </a:r>
          </a:p>
        </p:txBody>
      </p:sp>
      <p:pic>
        <p:nvPicPr>
          <p:cNvPr id="5" name="Picture 4" descr="exp05_reconfig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0"/>
            <a:ext cx="357632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976D2"/>
                </a:solidFill>
                <a:latin typeface="Microsoft YaHei"/>
              </a:rPr>
              <a:t>Phase 4：规则生成（枚举 + 仿真评估）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6666"/>
                </a:solidFill>
                <a:latin typeface="Microsoft YaHei"/>
              </a:rPr>
              <a:t>批量评估候选规则，按综合评分排名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12121"/>
                </a:solidFill>
                <a:latin typeface="Microsoft YaHei"/>
              </a:rPr>
              <a:t>•  RuleSpec 数据模型（family / threshold / target / action_param）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12121"/>
                </a:solidFill>
                <a:latin typeface="Microsoft YaHei"/>
              </a:rPr>
              <a:t>•  4 类规则生成器：UVLS / OVGR / OVERLOAD / RECONF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12121"/>
                </a:solidFill>
                <a:latin typeface="Microsoft YaHei"/>
              </a:rPr>
              <a:t>•  评分函数：score = 100·min_v − 0.1·max_load − 2·blackout − ... 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12121"/>
                </a:solidFill>
                <a:latin typeface="Microsoft YaHei"/>
              </a:rPr>
              <a:t>•  双场景对比（轻负荷 vs 高负荷），复合规则评估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12121"/>
                </a:solidFill>
                <a:latin typeface="Microsoft YaHei"/>
              </a:rPr>
              <a:t>•  RECONF_TIE 在两个场景都获胜（F1B 失电 0 步 vs baseline 25 步）</a:t>
            </a:r>
          </a:p>
        </p:txBody>
      </p:sp>
      <p:pic>
        <p:nvPicPr>
          <p:cNvPr id="5" name="Picture 4" descr="exp07_rule_gene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40480"/>
            <a:ext cx="35661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976D2"/>
                </a:solidFill>
                <a:latin typeface="Microsoft YaHei"/>
              </a:rPr>
              <a:t>Phase 5 + F：可视化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6666"/>
                </a:solidFill>
                <a:latin typeface="Microsoft YaHei"/>
              </a:rPr>
              <a:t>Plotly 单文件 HTML + Dash 真·实时仪表盘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12121"/>
                </a:solidFill>
                <a:latin typeface="Microsoft YaHei"/>
              </a:rPr>
              <a:t>•  Plotly 拓扑图（节点按电压着色 + 线路按载流着色）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12121"/>
                </a:solidFill>
                <a:latin typeface="Microsoft YaHei"/>
              </a:rPr>
              <a:t>•  拓扑动画（▶ 播放按钮 + 时间滑块）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12121"/>
                </a:solidFill>
                <a:latin typeface="Microsoft YaHei"/>
              </a:rPr>
              <a:t>•  4 子图时序曲线（电压/载流/出力/损耗）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12121"/>
                </a:solidFill>
                <a:latin typeface="Microsoft YaHei"/>
              </a:rPr>
              <a:t>•  8 个关键指标卡片 + 事件/规则日志表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12121"/>
                </a:solidFill>
                <a:latin typeface="Microsoft YaHei"/>
              </a:rPr>
              <a:t>•  Dash 版本：浏览器打开 http://127.0.0.1:8050，1 秒自动刷新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6666"/>
                </a:solidFill>
                <a:latin typeface="Microsoft YaHei"/>
              </a:rPr>
              <a:t>[仪表盘 HTML 文件位于 lab_scripts/exp08_dashboard.html]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976D2"/>
                </a:solidFill>
                <a:latin typeface="Microsoft YaHei"/>
              </a:rPr>
              <a:t>关键指标汇总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6666"/>
                </a:solidFill>
                <a:latin typeface="Microsoft YaHei"/>
              </a:rPr>
              <a:t>从 Phase 1 到 Phase F 的累积成果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1920240" cy="1188720"/>
          </a:xfrm>
          <a:prstGeom prst="roundRect">
            <a:avLst/>
          </a:prstGeom>
          <a:solidFill>
            <a:srgbClr val="F5F5F5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666666"/>
                </a:solidFill>
                <a:latin typeface="Microsoft YaHei"/>
              </a:rPr>
              <a:t>代码模块</a:t>
            </a:r>
          </a:p>
          <a:p>
            <a:r>
              <a:rPr sz="2000" b="1">
                <a:solidFill>
                  <a:srgbClr val="1976D2"/>
                </a:solidFill>
                <a:latin typeface="Microsoft YaHei"/>
              </a:rPr>
              <a:t>6 核心 + 14 demo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14600" y="1554480"/>
            <a:ext cx="1920240" cy="1188720"/>
          </a:xfrm>
          <a:prstGeom prst="roundRect">
            <a:avLst/>
          </a:prstGeom>
          <a:solidFill>
            <a:srgbClr val="F5F5F5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666666"/>
                </a:solidFill>
                <a:latin typeface="Microsoft YaHei"/>
              </a:rPr>
              <a:t>仿真场景</a:t>
            </a:r>
          </a:p>
          <a:p>
            <a:r>
              <a:rPr sz="2000" b="1">
                <a:solidFill>
                  <a:srgbClr val="1976D2"/>
                </a:solidFill>
                <a:latin typeface="Microsoft YaHei"/>
              </a:rPr>
              <a:t>7 典型剧本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554480"/>
            <a:ext cx="1920240" cy="1188720"/>
          </a:xfrm>
          <a:prstGeom prst="roundRect">
            <a:avLst/>
          </a:prstGeom>
          <a:solidFill>
            <a:srgbClr val="F5F5F5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666666"/>
                </a:solidFill>
                <a:latin typeface="Microsoft YaHei"/>
              </a:rPr>
              <a:t>Commit 数</a:t>
            </a:r>
          </a:p>
          <a:p>
            <a:r>
              <a:rPr sz="2000" b="1">
                <a:solidFill>
                  <a:srgbClr val="1976D2"/>
                </a:solidFill>
                <a:latin typeface="Microsoft YaHei"/>
              </a:rPr>
              <a:t>12+ 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554480"/>
            <a:ext cx="1920240" cy="1188720"/>
          </a:xfrm>
          <a:prstGeom prst="roundRect">
            <a:avLst/>
          </a:prstGeom>
          <a:solidFill>
            <a:srgbClr val="F5F5F5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666666"/>
                </a:solidFill>
                <a:latin typeface="Microsoft YaHei"/>
              </a:rPr>
              <a:t>总代码行</a:t>
            </a:r>
          </a:p>
          <a:p>
            <a:r>
              <a:rPr sz="2000" b="1">
                <a:solidFill>
                  <a:srgbClr val="1976D2"/>
                </a:solidFill>
                <a:latin typeface="Microsoft YaHei"/>
              </a:rPr>
              <a:t>~4500 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1920240" cy="1188720"/>
          </a:xfrm>
          <a:prstGeom prst="roundRect">
            <a:avLst/>
          </a:prstGeom>
          <a:solidFill>
            <a:srgbClr val="F5F5F5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666666"/>
                </a:solidFill>
                <a:latin typeface="Microsoft YaHei"/>
              </a:rPr>
              <a:t>Phase 通过率</a:t>
            </a:r>
          </a:p>
          <a:p>
            <a:r>
              <a:rPr sz="2000" b="1">
                <a:solidFill>
                  <a:srgbClr val="FF9800"/>
                </a:solidFill>
                <a:latin typeface="Microsoft YaHei"/>
              </a:rPr>
              <a:t>3/7 (基线)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2926080"/>
            <a:ext cx="1920240" cy="1188720"/>
          </a:xfrm>
          <a:prstGeom prst="roundRect">
            <a:avLst/>
          </a:prstGeom>
          <a:solidFill>
            <a:srgbClr val="F5F5F5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666666"/>
                </a:solidFill>
                <a:latin typeface="Microsoft YaHei"/>
              </a:rPr>
              <a:t>蒙特卡洛 N</a:t>
            </a:r>
          </a:p>
          <a:p>
            <a:r>
              <a:rPr sz="2000" b="1">
                <a:solidFill>
                  <a:srgbClr val="4CAF50"/>
                </a:solidFill>
                <a:latin typeface="Microsoft YaHei"/>
              </a:rPr>
              <a:t>200 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926080"/>
            <a:ext cx="1920240" cy="1188720"/>
          </a:xfrm>
          <a:prstGeom prst="roundRect">
            <a:avLst/>
          </a:prstGeom>
          <a:solidFill>
            <a:srgbClr val="F5F5F5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666666"/>
                </a:solidFill>
                <a:latin typeface="Microsoft YaHei"/>
              </a:rPr>
              <a:t>RL 训练步</a:t>
            </a:r>
          </a:p>
          <a:p>
            <a:r>
              <a:rPr sz="2000" b="1">
                <a:solidFill>
                  <a:srgbClr val="4CAF50"/>
                </a:solidFill>
                <a:latin typeface="Microsoft YaHei"/>
              </a:rPr>
              <a:t>3000 (PPO)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2926080"/>
            <a:ext cx="1920240" cy="1188720"/>
          </a:xfrm>
          <a:prstGeom prst="roundRect">
            <a:avLst/>
          </a:prstGeom>
          <a:solidFill>
            <a:srgbClr val="F5F5F5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666666"/>
                </a:solidFill>
                <a:latin typeface="Microsoft YaHei"/>
              </a:rPr>
              <a:t>Dash 实时</a:t>
            </a:r>
          </a:p>
          <a:p>
            <a:r>
              <a:rPr sz="2000" b="1">
                <a:solidFill>
                  <a:srgbClr val="4CAF50"/>
                </a:solidFill>
                <a:latin typeface="Microsoft YaHei"/>
              </a:rPr>
              <a:t>1s 刷新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148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12121"/>
                </a:solidFill>
                <a:latin typeface="Microsoft YaHei"/>
              </a:rPr>
              <a:t>关键修复（API 踩坑）:</a:t>
            </a:r>
          </a:p>
          <a:p>
            <a:r>
              <a:rPr sz="1200" b="0">
                <a:solidFill>
                  <a:srgbClr val="212121"/>
                </a:solidFill>
                <a:latin typeface="Microsoft YaHei"/>
              </a:rPr>
              <a:t>• pf.Sbus/Sf 单位是 MW（不是 pu）</a:t>
            </a:r>
          </a:p>
          <a:p>
            <a:r>
              <a:rPr sz="1200" b="0">
                <a:solidFill>
                  <a:srgbClr val="212121"/>
                </a:solidFill>
                <a:latin typeface="Microsoft YaHei"/>
              </a:rPr>
              <a:t>• pf.loading 字段对未通流支路返回垃圾值</a:t>
            </a:r>
          </a:p>
          <a:p>
            <a:r>
              <a:rPr sz="1200" b="0">
                <a:solidFill>
                  <a:srgbClr val="212121"/>
                </a:solidFill>
                <a:latin typeface="Microsoft YaHei"/>
              </a:rPr>
              <a:t>• VeraGrid 默认 ln.rate=1.0（必须显式设置）</a:t>
            </a:r>
          </a:p>
          <a:p>
            <a:r>
              <a:rPr sz="1200" b="0">
                <a:solidFill>
                  <a:srgbClr val="212121"/>
                </a:solidFill>
                <a:latin typeface="Microsoft YaHei"/>
              </a:rPr>
              <a:t>• Simulator 规则触发后立即 re-PF（消除 1 步延迟）</a:t>
            </a:r>
          </a:p>
          <a:p>
            <a:r>
              <a:rPr sz="1200" b="0">
                <a:solidFill>
                  <a:srgbClr val="212121"/>
                </a:solidFill>
                <a:latin typeface="Microsoft YaHei"/>
              </a:rPr>
              <a:t>• R004 故障隔离：自动找下游分段开关（修复了 slack 边界 bug）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976D2"/>
                </a:solidFill>
                <a:latin typeface="Microsoft YaHei"/>
              </a:rPr>
              <a:t>未来工作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6666"/>
                </a:solidFill>
                <a:latin typeface="Microsoft YaHei"/>
              </a:rPr>
              <a:t>在现有基础上可扩展的方向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  <a:latin typeface="Microsoft YaHei"/>
              </a:rPr>
              <a:t>•  RL 训练规模化：当前 3000 步 PPO 不稳定，扩展到 10k+ 步并调优奖励函数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  <a:latin typeface="Microsoft YaHei"/>
              </a:rPr>
              <a:t>•  基准通过率提升：当前 3/7，需更激进的协调规则（网络重构 + 协调切负荷）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  <a:latin typeface="Microsoft YaHei"/>
              </a:rPr>
              <a:t>•  Dash 增强：手动注入事件滑块、参数调节、SCADA 真实数据接入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  <a:latin typeface="Microsoft YaHei"/>
              </a:rPr>
              <a:t>•  规则库 YAML 化扩展：现有 4 条规则可加 10+ 条（OVL 区域化、UVLS 分级）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  <a:latin typeface="Microsoft YaHei"/>
              </a:rPr>
              <a:t>•  概率潮流指导规则生成：用 PPF 得到的违反概率作为目标函数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  <a:latin typeface="Microsoft YaHei"/>
              </a:rPr>
              <a:t>•  在线学习：把仿真环境部署为 RL 服务，支持真实电网数据回灌训练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  <a:latin typeface="Microsoft YaHei"/>
              </a:rPr>
              <a:t>•  论文/技术报告：6 个 Phase + 6 个增强 Phase 足够写一篇会议论文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600" b="1">
                <a:solidFill>
                  <a:srgbClr val="212121"/>
                </a:solidFill>
                <a:latin typeface="Microsoft YaHei"/>
              </a:rPr>
              <a:t>谢谢！</a:t>
            </a:r>
          </a:p>
          <a:p>
            <a:pPr algn="ctr"/>
            <a:r>
              <a:rPr sz="2000" b="0">
                <a:solidFill>
                  <a:srgbClr val="666666"/>
                </a:solidFill>
                <a:latin typeface="Calibri"/>
              </a:rPr>
              <a:t>Thanks for watching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  <a:latin typeface="Calibri"/>
              </a:rPr>
              <a:t>代码仓库：C:\code\research</a:t>
            </a:r>
          </a:p>
          <a:p>
            <a:pPr algn="ctr"/>
            <a:r>
              <a:rPr sz="1400" b="0">
                <a:solidFill>
                  <a:srgbClr val="666666"/>
                </a:solidFill>
                <a:latin typeface="Calibri"/>
              </a:rPr>
              <a:t>备份位置：E:\Git\power-grid-sim.git</a:t>
            </a:r>
          </a:p>
          <a:p>
            <a:pPr algn="ctr"/>
            <a:r>
              <a:rPr sz="1400" b="0">
                <a:solidFill>
                  <a:srgbClr val="666666"/>
                </a:solidFill>
                <a:latin typeface="Calibri"/>
              </a:rPr>
              <a:t>设计文档：docs\DESIGN.md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